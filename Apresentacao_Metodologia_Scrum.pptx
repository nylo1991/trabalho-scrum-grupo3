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enviado pelo usuário: Pesquisa e Desenvolvimento Metodologia Scrum.docx
- Imagem fornecida pelo usuário para contextualização visual da apresentação.
- SCHWABER, Ken; SUTHERLAND, Jeff. O Guia do Scrum, 2020.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enviado pelo usuário: Pesquisa e Desenvolvimento Metodologia Scrum.docx
- SCHWABER, Ken; SUTHERLAND, Jeff. O Guia do Scrum, 2020.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enviado pelo usuário: Pesquisa e Desenvolvimento Metodologia Scrum.docx
- SCHWABER, Ken; SUTHERLAND, Jeff. O Guia do Scrum, 2020.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enviado pelo usuário: Pesquisa e Desenvolvimento Metodologia Scrum.docx
- SOMMERVILLE, Ian. Engenharia de Software. 10. ed., 2019.
- SCHWABER, Ken; SUTHERLAND, Jeff. O Guia do Scrum, 2020.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enviado pelo usuário: Pesquisa e Desenvolvimento Metodologia Scrum.docx
- Estrutura de repositório sugerida a partir do documento técnico produzido para a atividade.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enviado pelo usuário: Pesquisa e Desenvolvimento Metodologia Scrum.docx
- SOMMERVILLE, Ian. Engenharia de Software. 10. ed., 2019.
- TOTVS. Metodologia ágil: o que é, exemplos e principais tipos.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Arquivo enviado pelo usuário: Pesquisa e Desenvolvimento Metodologia Scrum.docx
- SCHWABER, Ken; SUTHERLAND, Jeff. O Guia do Scrum, 2020.
- SOMMERVILLE, Ian. Engenharia de Software. 10. ed., 2019.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57B2"/>
          </a:solidFill>
          <a:ln w="12700">
            <a:solidFill>
              <a:srgbClr val="1257B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008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Scrum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502920" y="658368"/>
            <a:ext cx="11155680" cy="0"/>
          </a:xfrm>
          <a:prstGeom prst="line">
            <a:avLst/>
          </a:prstGeom>
          <a:noFill/>
          <a:ln w="12700">
            <a:solidFill>
              <a:srgbClr val="D8E1EE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b1ed263-6a39-4665-9f53-f5b017762907.png">    </p:cNvPr>
          <p:cNvPicPr>
            <a:picLocks noChangeAspect="1"/>
          </p:cNvPicPr>
          <p:nvPr/>
        </p:nvPicPr>
        <p:blipFill>
          <a:blip r:embed="rId1"/>
          <a:srcRect l="31998" r="31998" t="0" b="0"/>
          <a:stretch/>
        </p:blipFill>
        <p:spPr>
          <a:xfrm>
            <a:off x="8028432" y="0"/>
            <a:ext cx="416326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73568" y="411480"/>
            <a:ext cx="0" cy="5943600"/>
          </a:xfrm>
          <a:prstGeom prst="line">
            <a:avLst/>
          </a:prstGeom>
          <a:noFill/>
          <a:ln w="25400">
            <a:solidFill>
              <a:srgbClr val="1257B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21792" y="13258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40080" y="26974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breve para a Situação de Aprendizagem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3291840"/>
            <a:ext cx="6172200" cy="1554480"/>
          </a:xfrm>
          <a:prstGeom prst="roundRect">
            <a:avLst>
              <a:gd name="adj" fmla="val 4706"/>
            </a:avLst>
          </a:prstGeom>
          <a:solidFill>
            <a:srgbClr val="EAF2FC"/>
          </a:solidFill>
          <a:ln w="12700">
            <a:solidFill>
              <a:srgbClr val="B7CC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3520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3803904"/>
            <a:ext cx="57058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Explicar o que é Scrum, quando ele funciona melhor, quais ferramentas apoiam sua execução e por que ele pode ser uma boa escolha para uma software house.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53492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EAF2FC"/>
          </a:solidFill>
          <a:ln>
            <a:solidFill>
              <a:srgbClr val="EAF2F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Grupo 03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185416" y="534924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EAF2FC"/>
          </a:solidFill>
          <a:ln>
            <a:solidFill>
              <a:srgbClr val="EAF2F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ágil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489704" y="5349240"/>
            <a:ext cx="2697480" cy="384048"/>
          </a:xfrm>
          <a:prstGeom prst="roundRect">
            <a:avLst>
              <a:gd name="adj" fmla="val 19048"/>
            </a:avLst>
          </a:prstGeom>
          <a:solidFill>
            <a:srgbClr val="EAF2FC"/>
          </a:solidFill>
          <a:ln>
            <a:solidFill>
              <a:srgbClr val="EAF2F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 incrementais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58368" y="5907024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Frederico Aguiar • 19/02/2026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302752" y="5797296"/>
            <a:ext cx="3611880" cy="438912"/>
          </a:xfrm>
          <a:prstGeom prst="roundRect">
            <a:avLst>
              <a:gd name="adj" fmla="val 10417"/>
            </a:avLst>
          </a:prstGeom>
          <a:solidFill>
            <a:srgbClr val="0F3D88">
              <a:alpha val="82000"/>
            </a:srgbClr>
          </a:solidFill>
          <a:ln w="12700">
            <a:solidFill>
              <a:srgbClr val="0F3D88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94192" y="590702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 das práticas modernas de desenvolvimento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 que é Scrum?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ágil baseado em empirismo, inspeção contínua e adaptação rápida.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024128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vez de tentar prever todo o projeto no início, o Scrum organiza o trabalho em ciclos curtos para gerar aprendizado contínuo, reavaliar prioridades e entregar valor com frequência.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" y="17556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PILARES DO EMPIRISMO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9933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2103120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22376" y="2414016"/>
            <a:ext cx="33558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trabalho, os impedimentos e os resultados precisam estar visíveis para que decisões sejam tomadas com base em fatos.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88536" y="19933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16552" y="2103120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Inspeção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16552" y="2414016"/>
            <a:ext cx="33558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Entregas, progresso e artefatos são avaliados com frequência para detectar desvios, riscos e oportunidades de melhoria.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82712" y="1993392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0728" y="2103120"/>
            <a:ext cx="33558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Adaptação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10728" y="2414016"/>
            <a:ext cx="3355848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algo sai do esperado, a equipe ajusta rapidamente o processo, o plano ou a priorização para recuperar valor.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407408"/>
            <a:ext cx="11000232" cy="1325880"/>
          </a:xfrm>
          <a:prstGeom prst="roundRect">
            <a:avLst>
              <a:gd name="adj" fmla="val 4828"/>
            </a:avLst>
          </a:prstGeom>
          <a:solidFill>
            <a:srgbClr val="0F3D88"/>
          </a:solidFill>
          <a:ln w="12700">
            <a:solidFill>
              <a:srgbClr val="0F3D88"/>
            </a:solidFill>
            <a:prstDash val="solid"/>
          </a:ln>
          <a:effectLst>
            <a:outerShdw sx="100000" sy="100000" kx="0" ky="0" algn="bl" rotWithShape="0" blurRad="12700" dist="1905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6177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C8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 central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88289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funciona bem quando há mudança, incerteza e necessidade de feedback constante entre time e cliente.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Como o framework funciona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Papéis, eventos e artefatos criam um fluxo claro de planejamento, execução, validação e melhoria contínua.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1115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48132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Owner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94944" y="1792224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Maximiza valor e prioriza o backlog.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615184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72491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4944" y="3035808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Facilita o processo e remove impedimentos.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858768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396849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4944" y="4279392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Constroem, testam e entregam o incremento.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67328" y="1115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 DA SPRINT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30752" y="1865376"/>
            <a:ext cx="877824" cy="621792"/>
          </a:xfrm>
          <a:prstGeom prst="chevron">
            <a:avLst/>
          </a:prstGeom>
          <a:solidFill>
            <a:srgbClr val="DCEBFA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20299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81728" y="1865376"/>
            <a:ext cx="877824" cy="621792"/>
          </a:xfrm>
          <a:prstGeom prst="chevron">
            <a:avLst/>
          </a:prstGeom>
          <a:solidFill>
            <a:srgbClr val="2B6FD3"/>
          </a:solidFill>
          <a:ln w="12700">
            <a:solidFill>
              <a:srgbClr val="2B6F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20299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Execução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32704" y="1865376"/>
            <a:ext cx="877824" cy="621792"/>
          </a:xfrm>
          <a:prstGeom prst="chevron">
            <a:avLst/>
          </a:prstGeom>
          <a:solidFill>
            <a:srgbClr val="DCEBFA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20299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0" y="1865376"/>
            <a:ext cx="877824" cy="621792"/>
          </a:xfrm>
          <a:prstGeom prst="chevron">
            <a:avLst/>
          </a:prstGeom>
          <a:solidFill>
            <a:srgbClr val="DCEBFA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20299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34656" y="1865376"/>
            <a:ext cx="877824" cy="621792"/>
          </a:xfrm>
          <a:prstGeom prst="chevron">
            <a:avLst/>
          </a:prstGeom>
          <a:solidFill>
            <a:srgbClr val="DCEBFA"/>
          </a:solidFill>
          <a:ln w="12700">
            <a:solidFill>
              <a:srgbClr val="B9CBE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1232" y="202996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041648" y="2907792"/>
            <a:ext cx="3895344" cy="822960"/>
          </a:xfrm>
          <a:prstGeom prst="roundRect">
            <a:avLst>
              <a:gd name="adj" fmla="val 8889"/>
            </a:avLst>
          </a:prstGeom>
          <a:solidFill>
            <a:srgbClr val="EAF2FC"/>
          </a:solidFill>
          <a:ln w="12700">
            <a:solidFill>
              <a:srgbClr val="B7C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87952" y="309981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= ciclo de 1 a 4 semanas com meta clara e incremento potencialmente entregável.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767328" y="411480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trabalho acontece em timeboxes curtos, com sincronização diária e revisão no final do ciclo.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8887968" y="11155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ARTEFATOS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769096" y="1371600"/>
            <a:ext cx="28529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97112" y="1481328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Backlog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8897112" y="1792224"/>
            <a:ext cx="2596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 priorizada de requisitos e melhorias.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769096" y="2615184"/>
            <a:ext cx="28529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97112" y="2724912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Backlog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897112" y="3035808"/>
            <a:ext cx="2596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Itens escolhidos para a sprint atual.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769096" y="3858768"/>
            <a:ext cx="2852928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97112" y="396849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Incremento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897112" y="4279392"/>
            <a:ext cx="2596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pronto, utilizável e com valor para o usuário.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Quando usar e o que esperar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não é universal; ele gera mais valor quando o contexto pede adaptação e colaboração contínua.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078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MAIS ADEQUADOS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35024"/>
            <a:ext cx="382219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44475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Scrum costuma funcionar melhor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22376" y="1755648"/>
            <a:ext cx="35661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Produtos digitais com requisitos mutáveis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MVPs, apps, plataformas web e SaaS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Projetos com validação constante do cliente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Modernização gradual de sistemas legados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3712464"/>
            <a:ext cx="3822192" cy="1591056"/>
          </a:xfrm>
          <a:prstGeom prst="roundRect">
            <a:avLst>
              <a:gd name="adj" fmla="val 4598"/>
            </a:avLst>
          </a:prstGeom>
          <a:solidFill>
            <a:srgbClr val="FFF8F5"/>
          </a:solidFill>
          <a:ln w="12700">
            <a:solidFill>
              <a:srgbClr val="E6C8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" y="38221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tende a ser menos indicado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22376" y="4133088"/>
            <a:ext cx="35661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extremamente previsíveis, repetitivos ou com escopo totalmente fechado e pouca margem para adaptação.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09160" y="10789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FORTES E LIMITAÇÕES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35024"/>
            <a:ext cx="3328416" cy="4352544"/>
          </a:xfrm>
          <a:prstGeom prst="roundRect">
            <a:avLst>
              <a:gd name="adj" fmla="val 1923"/>
            </a:avLst>
          </a:prstGeom>
          <a:solidFill>
            <a:srgbClr val="F3FBF5"/>
          </a:solidFill>
          <a:ln w="12700">
            <a:solidFill>
              <a:srgbClr val="B8D8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6448" y="1335024"/>
            <a:ext cx="3438144" cy="4352544"/>
          </a:xfrm>
          <a:prstGeom prst="roundRect">
            <a:avLst>
              <a:gd name="adj" fmla="val 1862"/>
            </a:avLst>
          </a:prstGeom>
          <a:solidFill>
            <a:srgbClr val="FFF6F3"/>
          </a:solidFill>
          <a:ln w="12700">
            <a:solidFill>
              <a:srgbClr val="E7C8B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82896" y="15361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7A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Vantagens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82896" y="1901952"/>
            <a:ext cx="269748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Entregas frequentes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Feedback contínuo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Maior transparência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Redução de retrabalho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Melhoria contínua do processo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75904" y="15361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Desvantagens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75904" y="1901952"/>
            <a:ext cx="274320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Exige equipe madura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Depende de boa comunicação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Pode gerar muitas cerimônias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Não resolve sozinho problemas técnicos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Requer disciplina no backlog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81728" y="5806440"/>
            <a:ext cx="6922008" cy="566928"/>
          </a:xfrm>
          <a:prstGeom prst="roundRect">
            <a:avLst>
              <a:gd name="adj" fmla="val 8065"/>
            </a:avLst>
          </a:prstGeom>
          <a:solidFill>
            <a:srgbClr val="0F3D88"/>
          </a:solidFill>
          <a:ln w="12700">
            <a:solidFill>
              <a:srgbClr val="0F3D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971032"/>
            <a:ext cx="64556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Resumo: Scrum acelera o aprendizado do projeto, mas só funciona bem com clareza de papéis e disciplina operacional.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Ferramentas e organização do trabalho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não substituem a metodologia, mas ajudam a tornar o fluxo visível e rastreável.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 MAIS COMUNS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53312"/>
            <a:ext cx="27432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" y="14630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Software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22376" y="1773936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Backlog, sprints, bugs e relatórios.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566160" y="1353312"/>
            <a:ext cx="27432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4176" y="1463040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Trello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694176" y="1773936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Quadros visuais simples para acompanhamento.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4360" y="2798064"/>
            <a:ext cx="27432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9077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DevOps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2376" y="3218688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Planejamento, Git e integração com CI/CD.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3566160" y="2798064"/>
            <a:ext cx="274320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4176" y="2907792"/>
            <a:ext cx="2487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Confluence / Notion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94176" y="3218688"/>
            <a:ext cx="24871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Documentação viva, regras e decisões do time.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594360" y="4590288"/>
            <a:ext cx="5715000" cy="1033272"/>
          </a:xfrm>
          <a:prstGeom prst="roundRect">
            <a:avLst>
              <a:gd name="adj" fmla="val 6195"/>
            </a:avLst>
          </a:prstGeom>
          <a:solidFill>
            <a:srgbClr val="EAF2FC"/>
          </a:solidFill>
          <a:ln w="12700">
            <a:solidFill>
              <a:srgbClr val="B7C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800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Transparência operacional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04672" y="5074920"/>
            <a:ext cx="5193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de tarefas + backlog priorizado + repositório Git = visão clara do que fazer, do que está em andamento e do que foi entregue.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720840" y="1097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REPOSITÓRIO DO GRUPO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75120" y="1353312"/>
            <a:ext cx="4937760" cy="4261104"/>
          </a:xfrm>
          <a:prstGeom prst="roundRect">
            <a:avLst>
              <a:gd name="adj" fmla="val 1502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31152" y="15727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sugerida no GitHub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967728" y="1956816"/>
            <a:ext cx="201168" cy="201168"/>
          </a:xfrm>
          <a:prstGeom prst="ellipse">
            <a:avLst/>
          </a:prstGeom>
          <a:solidFill>
            <a:srgbClr val="1257B2"/>
          </a:solidFill>
          <a:ln w="12700">
            <a:solidFill>
              <a:srgbClr val="1257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96912" y="19019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 com objetivo, integrantes e resumo da metodologia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967728" y="2578608"/>
            <a:ext cx="201168" cy="201168"/>
          </a:xfrm>
          <a:prstGeom prst="ellipse">
            <a:avLst/>
          </a:prstGeom>
          <a:solidFill>
            <a:srgbClr val="1257B2"/>
          </a:solidFill>
          <a:ln w="12700">
            <a:solidFill>
              <a:srgbClr val="1257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96912" y="252374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Pasta /docs com PDF final e imagens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967728" y="3200400"/>
            <a:ext cx="201168" cy="201168"/>
          </a:xfrm>
          <a:prstGeom prst="ellipse">
            <a:avLst/>
          </a:prstGeom>
          <a:solidFill>
            <a:srgbClr val="1257B2"/>
          </a:solidFill>
          <a:ln w="12700">
            <a:solidFill>
              <a:srgbClr val="1257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4553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Pasta /referencias com materiais consultados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6967728" y="3822192"/>
            <a:ext cx="201168" cy="201168"/>
          </a:xfrm>
          <a:prstGeom prst="ellipse">
            <a:avLst/>
          </a:prstGeom>
          <a:solidFill>
            <a:srgbClr val="1257B2"/>
          </a:solidFill>
          <a:ln w="12700">
            <a:solidFill>
              <a:srgbClr val="1257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96912" y="37673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Pasta /apresentacao com slides ou roteiro oral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6967728" y="4443984"/>
            <a:ext cx="201168" cy="201168"/>
          </a:xfrm>
          <a:prstGeom prst="ellipse">
            <a:avLst/>
          </a:prstGeom>
          <a:solidFill>
            <a:srgbClr val="1257B2"/>
          </a:solidFill>
          <a:ln w="12700">
            <a:solidFill>
              <a:srgbClr val="1257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96912" y="4389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 para manter o repositório limpo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Comparação com outras metodologias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escolha da metodologia depende do tipo de problema que a empresa precisa resolver.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2011680" cy="502920"/>
          </a:xfrm>
          <a:prstGeom prst="rect">
            <a:avLst/>
          </a:prstGeom>
          <a:solidFill>
            <a:srgbClr val="DCEBFA"/>
          </a:solidFill>
          <a:ln w="12700">
            <a:solidFill>
              <a:srgbClr val="B8C8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2560320" y="1170432"/>
            <a:ext cx="2331720" cy="502920"/>
          </a:xfrm>
          <a:prstGeom prst="rect">
            <a:avLst/>
          </a:prstGeom>
          <a:solidFill>
            <a:srgbClr val="DCEBFA"/>
          </a:solidFill>
          <a:ln w="12700">
            <a:solidFill>
              <a:srgbClr val="B8C8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2801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principal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4892040" y="1170432"/>
            <a:ext cx="3657600" cy="502920"/>
          </a:xfrm>
          <a:prstGeom prst="rect">
            <a:avLst/>
          </a:prstGeom>
          <a:solidFill>
            <a:srgbClr val="DCEBFA"/>
          </a:solidFill>
          <a:ln w="12700">
            <a:solidFill>
              <a:srgbClr val="B8C8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funciona melhor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549640" y="1170432"/>
            <a:ext cx="3127248" cy="502920"/>
          </a:xfrm>
          <a:prstGeom prst="rect">
            <a:avLst/>
          </a:prstGeom>
          <a:solidFill>
            <a:srgbClr val="DCEBFA"/>
          </a:solidFill>
          <a:ln w="12700">
            <a:solidFill>
              <a:srgbClr val="B8C8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280160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Limitação mais comum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1673352"/>
            <a:ext cx="2011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79222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60320" y="1673352"/>
            <a:ext cx="23317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33472" y="1792224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iterativa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892040" y="1673352"/>
            <a:ext cx="3657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1792224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 digitais com requisitos mutáveis e feedback frequente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549640" y="1673352"/>
            <a:ext cx="31272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22792" y="1792224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gerar excesso de cerimônias se mal aplicado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2459736"/>
            <a:ext cx="2011680" cy="786384"/>
          </a:xfrm>
          <a:prstGeom prst="rect">
            <a:avLst/>
          </a:prstGeom>
          <a:solidFill>
            <a:srgbClr val="F9FBFE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2578608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Spiral Model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560320" y="2459736"/>
            <a:ext cx="2331720" cy="786384"/>
          </a:xfrm>
          <a:prstGeom prst="rect">
            <a:avLst/>
          </a:prstGeom>
          <a:solidFill>
            <a:srgbClr val="F9FBFE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33472" y="2578608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riscos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892040" y="2459736"/>
            <a:ext cx="3657600" cy="786384"/>
          </a:xfrm>
          <a:prstGeom prst="rect">
            <a:avLst/>
          </a:prstGeom>
          <a:solidFill>
            <a:srgbClr val="F9FBFE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2578608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Projetos grandes, caros ou com alta incerteza técnica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8549640" y="2459736"/>
            <a:ext cx="3127248" cy="786384"/>
          </a:xfrm>
          <a:prstGeom prst="rect">
            <a:avLst/>
          </a:prstGeom>
          <a:solidFill>
            <a:srgbClr val="F9FBFE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22792" y="2578608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pesado em documentação e análise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548640" y="3246120"/>
            <a:ext cx="2011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36499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Agile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560320" y="3246120"/>
            <a:ext cx="23317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33472" y="3364992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e princípios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4892040" y="3246120"/>
            <a:ext cx="3657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3364992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Organizações que precisam ganhar velocidade e colaboração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8549640" y="3246120"/>
            <a:ext cx="31272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22792" y="3364992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amplo; precisa de um framework prático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548640" y="4032504"/>
            <a:ext cx="2011680" cy="786384"/>
          </a:xfrm>
          <a:prstGeom prst="rect">
            <a:avLst/>
          </a:prstGeom>
          <a:solidFill>
            <a:srgbClr val="F9FBFE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15137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DevOps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2560320" y="4032504"/>
            <a:ext cx="2331720" cy="786384"/>
          </a:xfrm>
          <a:prstGeom prst="rect">
            <a:avLst/>
          </a:prstGeom>
          <a:solidFill>
            <a:srgbClr val="F9FBFE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33472" y="4151376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 dev + ops</a:t>
            </a:r>
            <a:endParaRPr lang="en-US" sz="1450" dirty="0"/>
          </a:p>
        </p:txBody>
      </p:sp>
      <p:sp>
        <p:nvSpPr>
          <p:cNvPr id="40" name="Shape 38"/>
          <p:cNvSpPr/>
          <p:nvPr/>
        </p:nvSpPr>
        <p:spPr>
          <a:xfrm>
            <a:off x="4892040" y="4032504"/>
            <a:ext cx="3657600" cy="786384"/>
          </a:xfrm>
          <a:prstGeom prst="rect">
            <a:avLst/>
          </a:prstGeom>
          <a:solidFill>
            <a:srgbClr val="F9FBFE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65192" y="4151376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 que precisam automatizar entrega, testes e monitoramento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8549640" y="4032504"/>
            <a:ext cx="3127248" cy="786384"/>
          </a:xfrm>
          <a:prstGeom prst="rect">
            <a:avLst/>
          </a:prstGeom>
          <a:solidFill>
            <a:srgbClr val="F9FBFE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22792" y="4151376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 de maturidade técnica e cultura integrada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548640" y="4818888"/>
            <a:ext cx="20116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4937760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 Development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2560320" y="4818888"/>
            <a:ext cx="23317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33472" y="4937760"/>
            <a:ext cx="21854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Eliminar desperdício</a:t>
            </a:r>
            <a:endParaRPr lang="en-US" sz="1450" dirty="0"/>
          </a:p>
        </p:txBody>
      </p:sp>
      <p:sp>
        <p:nvSpPr>
          <p:cNvPr id="48" name="Shape 46"/>
          <p:cNvSpPr/>
          <p:nvPr/>
        </p:nvSpPr>
        <p:spPr>
          <a:xfrm>
            <a:off x="4892040" y="4818888"/>
            <a:ext cx="36576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65192" y="4937760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Fluxos com gargalos, retrabalho e excesso de etapas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8549640" y="4818888"/>
            <a:ext cx="312724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22792" y="4937760"/>
            <a:ext cx="29809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 ser mal aplicado se cortar controles importantes</a:t>
            </a:r>
            <a:endParaRPr lang="en-US" sz="1450" dirty="0"/>
          </a:p>
        </p:txBody>
      </p:sp>
      <p:sp>
        <p:nvSpPr>
          <p:cNvPr id="52" name="Shape 50"/>
          <p:cNvSpPr/>
          <p:nvPr/>
        </p:nvSpPr>
        <p:spPr>
          <a:xfrm>
            <a:off x="804672" y="5833872"/>
            <a:ext cx="10515600" cy="530352"/>
          </a:xfrm>
          <a:prstGeom prst="roundRect">
            <a:avLst>
              <a:gd name="adj" fmla="val 8621"/>
            </a:avLst>
          </a:prstGeom>
          <a:solidFill>
            <a:srgbClr val="0F3D88"/>
          </a:solidFill>
          <a:ln w="12700">
            <a:solidFill>
              <a:srgbClr val="0F3D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05840" y="5989320"/>
            <a:ext cx="10104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rápida: Scrum organiza a entrega iterativa; DevOps acelera a operação e a entrega contínua; Lean combate desperdícios.</a:t>
            </a:r>
            <a:endParaRPr lang="en-US" sz="13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Recomendação para a software house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12064" y="749808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é uma escolha forte quando a empresa precisa responder rápido ao cliente sem perder visibilidade do trabalho.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1792" y="1170432"/>
            <a:ext cx="3310128" cy="4480560"/>
          </a:xfrm>
          <a:prstGeom prst="roundRect">
            <a:avLst>
              <a:gd name="adj" fmla="val 2210"/>
            </a:avLst>
          </a:prstGeom>
          <a:solidFill>
            <a:srgbClr val="EAF2FC"/>
          </a:solidFill>
          <a:ln w="12700">
            <a:solidFill>
              <a:srgbClr val="B7C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444752"/>
            <a:ext cx="27980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Adotar Scrum faz mais sentido quando...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77824" y="1993392"/>
            <a:ext cx="26700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Os requisitos mudam com frequência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 cliente participa da validação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equipe precisa mostrar progresso real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 produto pode ser entregue por incrementos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06240" y="1170432"/>
            <a:ext cx="3675888" cy="4480560"/>
          </a:xfrm>
          <a:prstGeom prst="roundRect">
            <a:avLst>
              <a:gd name="adj" fmla="val 1990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2272" y="144475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257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Condições mínimas para dar certo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98848" y="1965960"/>
            <a:ext cx="3090672" cy="384048"/>
          </a:xfrm>
          <a:prstGeom prst="roundRect">
            <a:avLst>
              <a:gd name="adj" fmla="val 19048"/>
            </a:avLst>
          </a:prstGeom>
          <a:solidFill>
            <a:srgbClr val="F3F6FB"/>
          </a:solidFill>
          <a:ln>
            <a:solidFill>
              <a:srgbClr val="F3F6F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Papéis claros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98848" y="2569464"/>
            <a:ext cx="3090672" cy="384048"/>
          </a:xfrm>
          <a:prstGeom prst="roundRect">
            <a:avLst>
              <a:gd name="adj" fmla="val 19048"/>
            </a:avLst>
          </a:prstGeom>
          <a:solidFill>
            <a:srgbClr val="F3F6FB"/>
          </a:solidFill>
          <a:ln>
            <a:solidFill>
              <a:srgbClr val="F3F6F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priorizado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98848" y="3172968"/>
            <a:ext cx="3090672" cy="384048"/>
          </a:xfrm>
          <a:prstGeom prst="roundRect">
            <a:avLst>
              <a:gd name="adj" fmla="val 19048"/>
            </a:avLst>
          </a:prstGeom>
          <a:solidFill>
            <a:srgbClr val="F3F6FB"/>
          </a:solidFill>
          <a:ln>
            <a:solidFill>
              <a:srgbClr val="F3F6F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de pronto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98848" y="3776472"/>
            <a:ext cx="3090672" cy="384048"/>
          </a:xfrm>
          <a:prstGeom prst="roundRect">
            <a:avLst>
              <a:gd name="adj" fmla="val 19048"/>
            </a:avLst>
          </a:prstGeom>
          <a:solidFill>
            <a:srgbClr val="F3F6FB"/>
          </a:solidFill>
          <a:ln>
            <a:solidFill>
              <a:srgbClr val="F3F6FB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Participação nas reviews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98848" y="4379976"/>
            <a:ext cx="3090672" cy="384048"/>
          </a:xfrm>
          <a:prstGeom prst="roundRect">
            <a:avLst>
              <a:gd name="adj" fmla="val 19048"/>
            </a:avLst>
          </a:prstGeom>
          <a:solidFill>
            <a:srgbClr val="DCEBFA"/>
          </a:solidFill>
          <a:ln>
            <a:solidFill>
              <a:srgbClr val="DCEBF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Disciplina técnica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83880" y="1170432"/>
            <a:ext cx="3401568" cy="4480560"/>
          </a:xfrm>
          <a:prstGeom prst="roundRect">
            <a:avLst>
              <a:gd name="adj" fmla="val 2151"/>
            </a:avLst>
          </a:prstGeom>
          <a:solidFill>
            <a:srgbClr val="FFF8F5"/>
          </a:solidFill>
          <a:ln w="12700">
            <a:solidFill>
              <a:srgbClr val="E6C8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144475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Complementos importantes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49056" y="2011680"/>
            <a:ext cx="272491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DevOps para automação e deploy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Lean para reduzir desperdícios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Boas práticas de testes e versionamento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Métricas simples para acompanhar fluxo e valor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621792" y="5870448"/>
            <a:ext cx="10954512" cy="493776"/>
          </a:xfrm>
          <a:prstGeom prst="roundRect">
            <a:avLst>
              <a:gd name="adj" fmla="val 9259"/>
            </a:avLst>
          </a:prstGeom>
          <a:solidFill>
            <a:srgbClr val="0F3D88"/>
          </a:solidFill>
          <a:ln w="12700">
            <a:solidFill>
              <a:srgbClr val="0F3D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6007608"/>
            <a:ext cx="10469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Conclusão: Scrum é mais do que um conjunto de reuniões — ele é um modelo de trabalho para reduzir incerteza, alinhar equipe e entregar valor continuamente.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Metodologia Scrum</dc:title>
  <dc:subject>Apresentação sobre a metodologia Scrum</dc:subject>
  <dc:creator>OpenAI</dc:creator>
  <cp:lastModifiedBy>OpenAI</cp:lastModifiedBy>
  <cp:revision>1</cp:revision>
  <dcterms:created xsi:type="dcterms:W3CDTF">2026-03-15T18:56:28Z</dcterms:created>
  <dcterms:modified xsi:type="dcterms:W3CDTF">2026-03-15T18:56:28Z</dcterms:modified>
</cp:coreProperties>
</file>